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30.png"/><Relationship Id="rId21" Type="http://schemas.openxmlformats.org/officeDocument/2006/relationships/image" Target="../media/image47.png"/><Relationship Id="rId7" Type="http://schemas.openxmlformats.org/officeDocument/2006/relationships/image" Target="../media/image34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1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7.png"/><Relationship Id="rId5" Type="http://schemas.openxmlformats.org/officeDocument/2006/relationships/image" Target="../media/image32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1.png"/><Relationship Id="rId9" Type="http://schemas.openxmlformats.org/officeDocument/2006/relationships/image" Target="../media/image17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26" Type="http://schemas.openxmlformats.org/officeDocument/2006/relationships/image" Target="../media/image71.png"/><Relationship Id="rId3" Type="http://schemas.openxmlformats.org/officeDocument/2006/relationships/image" Target="../media/image49.png"/><Relationship Id="rId21" Type="http://schemas.openxmlformats.org/officeDocument/2006/relationships/image" Target="../media/image66.png"/><Relationship Id="rId7" Type="http://schemas.openxmlformats.org/officeDocument/2006/relationships/image" Target="../media/image53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2" Type="http://schemas.openxmlformats.org/officeDocument/2006/relationships/image" Target="../media/image1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29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24" Type="http://schemas.openxmlformats.org/officeDocument/2006/relationships/image" Target="../media/image69.png"/><Relationship Id="rId5" Type="http://schemas.openxmlformats.org/officeDocument/2006/relationships/image" Target="../media/image51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28" Type="http://schemas.openxmlformats.org/officeDocument/2006/relationships/image" Target="../media/image73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Relationship Id="rId27" Type="http://schemas.openxmlformats.org/officeDocument/2006/relationships/image" Target="../media/image7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3" Type="http://schemas.openxmlformats.org/officeDocument/2006/relationships/image" Target="../media/image75.png"/><Relationship Id="rId21" Type="http://schemas.openxmlformats.org/officeDocument/2006/relationships/image" Target="../media/image92.png"/><Relationship Id="rId7" Type="http://schemas.openxmlformats.org/officeDocument/2006/relationships/image" Target="../media/image79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" Type="http://schemas.openxmlformats.org/officeDocument/2006/relationships/image" Target="../media/image1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2.png"/><Relationship Id="rId5" Type="http://schemas.openxmlformats.org/officeDocument/2006/relationships/image" Target="../media/image77.png"/><Relationship Id="rId15" Type="http://schemas.openxmlformats.org/officeDocument/2006/relationships/image" Target="../media/image86.png"/><Relationship Id="rId10" Type="http://schemas.openxmlformats.org/officeDocument/2006/relationships/image" Target="../media/image17.png"/><Relationship Id="rId19" Type="http://schemas.openxmlformats.org/officeDocument/2006/relationships/image" Target="../media/image90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94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image" Target="../media/image93.png"/><Relationship Id="rId16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01.png"/><Relationship Id="rId5" Type="http://schemas.openxmlformats.org/officeDocument/2006/relationships/image" Target="../media/image96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4" Type="http://schemas.openxmlformats.org/officeDocument/2006/relationships/image" Target="../media/image95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7.png"/><Relationship Id="rId7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7.png"/><Relationship Id="rId9" Type="http://schemas.openxmlformats.org/officeDocument/2006/relationships/image" Target="../media/image1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3.png"/><Relationship Id="rId7" Type="http://schemas.openxmlformats.org/officeDocument/2006/relationships/image" Target="../media/image1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20.png"/><Relationship Id="rId5" Type="http://schemas.openxmlformats.org/officeDocument/2006/relationships/image" Target="../media/image115.png"/><Relationship Id="rId10" Type="http://schemas.openxmlformats.org/officeDocument/2006/relationships/image" Target="../media/image119.png"/><Relationship Id="rId4" Type="http://schemas.openxmlformats.org/officeDocument/2006/relationships/image" Target="../media/image114.png"/><Relationship Id="rId9" Type="http://schemas.openxmlformats.org/officeDocument/2006/relationships/image" Target="../media/image1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11" Type="http://schemas.openxmlformats.org/officeDocument/2006/relationships/image" Target="../media/image128.png"/><Relationship Id="rId5" Type="http://schemas.openxmlformats.org/officeDocument/2006/relationships/image" Target="../media/image123.png"/><Relationship Id="rId10" Type="http://schemas.openxmlformats.org/officeDocument/2006/relationships/image" Target="../media/image127.png"/><Relationship Id="rId4" Type="http://schemas.openxmlformats.org/officeDocument/2006/relationships/image" Target="../media/image12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7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48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image" Target="../media/image1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png"/><Relationship Id="rId11" Type="http://schemas.openxmlformats.org/officeDocument/2006/relationships/image" Target="../media/image146.png"/><Relationship Id="rId5" Type="http://schemas.openxmlformats.org/officeDocument/2006/relationships/image" Target="../media/image141.png"/><Relationship Id="rId10" Type="http://schemas.openxmlformats.org/officeDocument/2006/relationships/image" Target="../media/image145.png"/><Relationship Id="rId4" Type="http://schemas.openxmlformats.org/officeDocument/2006/relationships/image" Target="../media/image140.png"/><Relationship Id="rId9" Type="http://schemas.openxmlformats.org/officeDocument/2006/relationships/image" Target="../media/image1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9.png"/><Relationship Id="rId7" Type="http://schemas.openxmlformats.org/officeDocument/2006/relationships/image" Target="../media/image1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56.png"/><Relationship Id="rId5" Type="http://schemas.openxmlformats.org/officeDocument/2006/relationships/image" Target="../media/image151.png"/><Relationship Id="rId10" Type="http://schemas.openxmlformats.org/officeDocument/2006/relationships/image" Target="../media/image155.png"/><Relationship Id="rId4" Type="http://schemas.openxmlformats.org/officeDocument/2006/relationships/image" Target="../media/image150.png"/><Relationship Id="rId9" Type="http://schemas.openxmlformats.org/officeDocument/2006/relationships/image" Target="../media/image1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58.png"/><Relationship Id="rId7" Type="http://schemas.openxmlformats.org/officeDocument/2006/relationships/image" Target="../media/image161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10" Type="http://schemas.openxmlformats.org/officeDocument/2006/relationships/image" Target="../media/image164.png"/><Relationship Id="rId4" Type="http://schemas.openxmlformats.org/officeDocument/2006/relationships/image" Target="../media/image17.png"/><Relationship Id="rId9" Type="http://schemas.openxmlformats.org/officeDocument/2006/relationships/image" Target="../media/image16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8.png"/><Relationship Id="rId3" Type="http://schemas.openxmlformats.org/officeDocument/2006/relationships/image" Target="../media/image169.png"/><Relationship Id="rId7" Type="http://schemas.openxmlformats.org/officeDocument/2006/relationships/image" Target="../media/image172.png"/><Relationship Id="rId12" Type="http://schemas.openxmlformats.org/officeDocument/2006/relationships/image" Target="../media/image177.png"/><Relationship Id="rId2" Type="http://schemas.openxmlformats.org/officeDocument/2006/relationships/image" Target="../media/image1.png"/><Relationship Id="rId16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1.png"/><Relationship Id="rId11" Type="http://schemas.openxmlformats.org/officeDocument/2006/relationships/image" Target="../media/image176.png"/><Relationship Id="rId5" Type="http://schemas.openxmlformats.org/officeDocument/2006/relationships/image" Target="../media/image17.png"/><Relationship Id="rId15" Type="http://schemas.openxmlformats.org/officeDocument/2006/relationships/image" Target="../media/image180.png"/><Relationship Id="rId10" Type="http://schemas.openxmlformats.org/officeDocument/2006/relationships/image" Target="../media/image175.png"/><Relationship Id="rId4" Type="http://schemas.openxmlformats.org/officeDocument/2006/relationships/image" Target="../media/image170.png"/><Relationship Id="rId9" Type="http://schemas.openxmlformats.org/officeDocument/2006/relationships/image" Target="../media/image174.png"/><Relationship Id="rId14" Type="http://schemas.openxmlformats.org/officeDocument/2006/relationships/image" Target="../media/image1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" y="0"/>
            <a:ext cx="12192000" cy="64814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3730823"/>
            <a:ext cx="6286500" cy="733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536501"/>
            <a:ext cx="136207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50" y="1917501"/>
            <a:ext cx="6600825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450" b="1" i="0" u="none">
                <a:solidFill>
                  <a:srgbClr val="FFFFFF"/>
                </a:solidFill>
                <a:latin typeface="Poppins"/>
              </a:rPr>
              <a:t>Data Storytelling &amp;</a:t>
            </a:r>
            <a:r>
              <a:t>
</a:t>
            </a:r>
            <a:r>
              <a:rPr sz="3450" b="1" i="0" u="none">
                <a:solidFill>
                  <a:srgbClr val="FFFFFF"/>
                </a:solidFill>
                <a:latin typeface="Poppins"/>
              </a:rPr>
              <a:t> Statistical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121223"/>
            <a:ext cx="6286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Inter Medium"/>
              </a:rPr>
              <a:t>ApexPlanet Data Analytics Internship – Task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785" y="3957389"/>
            <a:ext cx="6286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F8FAFC"/>
                </a:solidFill>
                <a:latin typeface="Inter SemiBold"/>
              </a:rPr>
              <a:t>R </a:t>
            </a:r>
            <a:r>
              <a:rPr sz="1650" b="0" i="0" u="none" dirty="0" err="1">
                <a:solidFill>
                  <a:srgbClr val="F8FAFC"/>
                </a:solidFill>
                <a:latin typeface="Inter SemiBold"/>
              </a:rPr>
              <a:t>Devanath</a:t>
            </a:r>
            <a:endParaRPr sz="1650" b="0" i="0" u="none" dirty="0">
              <a:solidFill>
                <a:srgbClr val="F8FAFC"/>
              </a:solidFill>
              <a:latin typeface="Inter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6750" y="4283273"/>
            <a:ext cx="6286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B.Tech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– Computer Science Engineering (Data Science)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D639B8-5807-3FC0-3C2D-D1793001D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3932" y="376518"/>
            <a:ext cx="4842252" cy="27459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0" y="3524250"/>
            <a:ext cx="4286250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390650"/>
            <a:ext cx="5453062" cy="488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337" y="2085975"/>
            <a:ext cx="4957762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337" y="2952750"/>
            <a:ext cx="4957762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337" y="3819525"/>
            <a:ext cx="4957762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4686300"/>
            <a:ext cx="4957762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337" y="5553075"/>
            <a:ext cx="4957762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4612481"/>
            <a:ext cx="2669381" cy="3905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9931" y="4612481"/>
            <a:ext cx="2669381" cy="3905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250" y="5117306"/>
            <a:ext cx="2669381" cy="3905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59931" y="5117306"/>
            <a:ext cx="2669381" cy="3905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58400" y="514350"/>
            <a:ext cx="165735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2159793"/>
            <a:ext cx="5453062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Businesses generate extensive volumes of sales data daily. However, raw figures lack clarity without contextual translation into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actionable intelligence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" y="3127176"/>
            <a:ext cx="5453062" cy="1294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This project bridges raw transactional data and strategic decision-making using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Data Storytelling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and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Statistical Validation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. By combining Business Intelligence dashboards with quantitative hypothesis testing, we pinpoint high-value customer patterns and product revenue drivers.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337" y="1638300"/>
            <a:ext cx="5205650" cy="2381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Analytics Pipeline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0337" y="1676400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10362" y="2228850"/>
            <a:ext cx="2857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6831" y="2695575"/>
            <a:ext cx="104775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10362" y="3095625"/>
            <a:ext cx="2857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6831" y="3562350"/>
            <a:ext cx="104775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10362" y="3962400"/>
            <a:ext cx="28575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6831" y="4429125"/>
            <a:ext cx="104775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10362" y="4829175"/>
            <a:ext cx="28575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6831" y="5295900"/>
            <a:ext cx="104775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10362" y="5695950"/>
            <a:ext cx="28575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8175" y="4736306"/>
            <a:ext cx="1428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21856" y="4736306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8175" y="5241131"/>
            <a:ext cx="10477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21856" y="5241131"/>
            <a:ext cx="142875" cy="1428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Project Overview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677441"/>
            <a:ext cx="3606700" cy="20992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500" y="1677441"/>
            <a:ext cx="3606849" cy="20992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900" y="1677441"/>
            <a:ext cx="3606700" cy="20992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986212"/>
            <a:ext cx="3606700" cy="20992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500" y="3986212"/>
            <a:ext cx="3606849" cy="20992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8900" y="3986212"/>
            <a:ext cx="3606700" cy="209922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514350"/>
            <a:ext cx="104775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3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1925091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900" y="2563266"/>
            <a:ext cx="2840355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0F172A"/>
                </a:solidFill>
                <a:latin typeface="Poppins SemiBold"/>
              </a:rPr>
              <a:t>Analyze Business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928937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Evaluate macro and micro revenue metrics to uncover operational strengths and sales velocity.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0150" y="1925091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40150" y="2563266"/>
            <a:ext cx="1940242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0F172A"/>
                </a:solidFill>
                <a:latin typeface="Poppins SemiBold"/>
              </a:rPr>
              <a:t>Identify Sales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0150" y="2928937"/>
            <a:ext cx="31115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Detect seasonal variations and monthly trajectory trends across multiple sales channels.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6550" y="1925091"/>
            <a:ext cx="495300" cy="495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56550" y="2563266"/>
            <a:ext cx="1970246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0F172A"/>
                </a:solidFill>
                <a:latin typeface="Poppins SemiBold"/>
              </a:rPr>
              <a:t>Understand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550" y="2928937"/>
            <a:ext cx="3111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Segment customers by demographics, purchasing power, and regional distribution patterns.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4233862"/>
            <a:ext cx="495300" cy="495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3900" y="4872037"/>
            <a:ext cx="2150268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0F172A"/>
                </a:solidFill>
                <a:latin typeface="Poppins SemiBold"/>
              </a:rPr>
              <a:t>Evaluate Product 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5237708"/>
            <a:ext cx="3111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Classify inventory into high-performing categories and optimize line items for maximum ROI.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0150" y="4233862"/>
            <a:ext cx="495300" cy="495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40150" y="4872037"/>
            <a:ext cx="1600200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0F172A"/>
                </a:solidFill>
                <a:latin typeface="Poppins SemiBold"/>
              </a:rPr>
              <a:t>Validate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0150" y="5237708"/>
            <a:ext cx="31115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Apply rigorous statistical hypothesis testing (T-tests) to confirm analytical observations.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56550" y="4233862"/>
            <a:ext cx="495300" cy="495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56550" y="4872037"/>
            <a:ext cx="2620327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0F172A"/>
                </a:solidFill>
                <a:latin typeface="Poppins SemiBold"/>
              </a:rPr>
              <a:t>Provide Actionable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6550" y="5237708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Deliver data-backed recommendations for marketing, stock allocation, and growth.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6775" y="2067966"/>
            <a:ext cx="209550" cy="2095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68738" y="2067966"/>
            <a:ext cx="238125" cy="2095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70850" y="2067966"/>
            <a:ext cx="266700" cy="2095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" y="4376737"/>
            <a:ext cx="266700" cy="2095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97313" y="4376737"/>
            <a:ext cx="180975" cy="2095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99425" y="4376737"/>
            <a:ext cx="209550" cy="2095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Project Objectives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81387"/>
            <a:ext cx="4929187" cy="1743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187" y="2386012"/>
            <a:ext cx="6024562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1187" y="4243387"/>
            <a:ext cx="6024562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386012"/>
            <a:ext cx="2393156" cy="904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2281" y="2386012"/>
            <a:ext cx="2393156" cy="904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1275" y="514350"/>
            <a:ext cx="151447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44275" y="6524625"/>
            <a:ext cx="3714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3681412"/>
            <a:ext cx="4755594" cy="21907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oppins"/>
              </a:rPr>
              <a:t>Original Features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0712" y="2395537"/>
            <a:ext cx="6005512" cy="1695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91212" y="4443412"/>
            <a:ext cx="5905738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Poppins"/>
              </a:rPr>
              <a:t>Feature Engineering Created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2576512"/>
            <a:ext cx="2012156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38BDF8"/>
                </a:solidFill>
                <a:latin typeface="Inter"/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2947987"/>
            <a:ext cx="201215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Inter"/>
              </a:rPr>
              <a:t>TOTAL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2781" y="2576512"/>
            <a:ext cx="2012156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38BDF8"/>
                </a:solidFill>
                <a:latin typeface="Inter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2781" y="2947987"/>
            <a:ext cx="201215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Inter"/>
              </a:rPr>
              <a:t>ORIGINAL ATTRIBUTES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075" y="3705225"/>
            <a:ext cx="1428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4014787"/>
            <a:ext cx="742950" cy="285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5425" y="4014787"/>
            <a:ext cx="885825" cy="2857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7450" y="4014787"/>
            <a:ext cx="990600" cy="2857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24250" y="4014787"/>
            <a:ext cx="121920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4376737"/>
            <a:ext cx="485775" cy="2857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38250" y="4376737"/>
            <a:ext cx="695325" cy="2857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09775" y="4376737"/>
            <a:ext cx="4762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2225" y="4376737"/>
            <a:ext cx="714375" cy="2857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52800" y="4376737"/>
            <a:ext cx="790575" cy="2857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19575" y="4376737"/>
            <a:ext cx="733425" cy="2857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6275" y="4738687"/>
            <a:ext cx="819150" cy="2857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71625" y="4738687"/>
            <a:ext cx="866775" cy="2857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05487" y="4464983"/>
            <a:ext cx="17145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91212" y="4795837"/>
            <a:ext cx="514350" cy="2857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81762" y="4795837"/>
            <a:ext cx="638175" cy="2857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96137" y="4795837"/>
            <a:ext cx="704850" cy="2857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77187" y="4795837"/>
            <a:ext cx="476250" cy="2857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529637" y="4795837"/>
            <a:ext cx="885825" cy="2857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Dataset Overview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76425"/>
            <a:ext cx="11239500" cy="1314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3652838"/>
            <a:ext cx="3652321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325" y="3619500"/>
            <a:ext cx="365120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3619500"/>
            <a:ext cx="3651349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238625"/>
            <a:ext cx="365120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325" y="4238625"/>
            <a:ext cx="365120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400" y="4238625"/>
            <a:ext cx="3651349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48925" y="514350"/>
            <a:ext cx="126682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250" y="5095875"/>
            <a:ext cx="11239500" cy="695325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700" y="5229225"/>
            <a:ext cx="10896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369A1"/>
                </a:solidFill>
                <a:latin typeface="Inter"/>
              </a:rPr>
              <a:t>Power Query &amp; Python Validation:</a:t>
            </a:r>
            <a:r>
              <a:rPr sz="1125" b="0" i="0" u="none">
                <a:solidFill>
                  <a:srgbClr val="0369A1"/>
                </a:solidFill>
                <a:latin typeface="Inter"/>
              </a:rPr>
              <a:t> Implemented robust data cleansing pipeline ensures zero null propagation and accurate statistical aggregations across all 1,000 transactions.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5095875"/>
            <a:ext cx="38100" cy="695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1600" y="228600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5817" y="2590800"/>
            <a:ext cx="132016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F172A"/>
                </a:solidFill>
                <a:latin typeface="Poppins SemiBold"/>
              </a:rPr>
              <a:t>1. Raw Dataset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86037" y="2452687"/>
            <a:ext cx="104775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76650" y="2286000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30867" y="2590800"/>
            <a:ext cx="132016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F172A"/>
                </a:solidFill>
                <a:latin typeface="Poppins SemiBold"/>
              </a:rPr>
              <a:t>2. Missing Values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1087" y="2452687"/>
            <a:ext cx="104775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95987" y="2286000"/>
            <a:ext cx="200025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35917" y="2590800"/>
            <a:ext cx="132016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F172A"/>
                </a:solidFill>
                <a:latin typeface="Poppins SemiBold"/>
              </a:rPr>
              <a:t>3. Deduplication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6137" y="2452687"/>
            <a:ext cx="104775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6750" y="2286000"/>
            <a:ext cx="2286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40967" y="2590800"/>
            <a:ext cx="132016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F172A"/>
                </a:solidFill>
                <a:latin typeface="Poppins SemiBold"/>
              </a:rPr>
              <a:t>4. Type Casting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01187" y="2452687"/>
            <a:ext cx="104775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06087" y="2286000"/>
            <a:ext cx="200025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046017" y="2590800"/>
            <a:ext cx="132016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F172A"/>
                </a:solidFill>
                <a:latin typeface="Poppins SemiBold"/>
              </a:rPr>
              <a:t>5. Analysis Ready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2925" y="3841377"/>
            <a:ext cx="137832" cy="13783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40125" y="3804397"/>
            <a:ext cx="15240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50125" y="3806638"/>
            <a:ext cx="13335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3485" y="4447405"/>
            <a:ext cx="125366" cy="125366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46873" y="4433047"/>
            <a:ext cx="13335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50125" y="4417078"/>
            <a:ext cx="133350" cy="1333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Data Cleaning &amp; Preparation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55056"/>
            <a:ext cx="3619500" cy="1000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2355056"/>
            <a:ext cx="3619500" cy="1000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355056"/>
            <a:ext cx="3619500" cy="1000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545681"/>
            <a:ext cx="3619500" cy="1000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3545681"/>
            <a:ext cx="3619500" cy="1000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3545681"/>
            <a:ext cx="3619500" cy="10001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4125" y="514350"/>
            <a:ext cx="157162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6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993481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9475" y="2626518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9475" y="2626518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9475" y="2626518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9475" y="3817143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9475" y="3817143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9475" y="3817143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3425" y="2574131"/>
            <a:ext cx="1533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TOTAL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2764631"/>
            <a:ext cx="15335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$139.40M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2759868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43425" y="2574131"/>
            <a:ext cx="9239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TOTAL 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3425" y="2764631"/>
            <a:ext cx="9239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1,000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48537" y="2759868"/>
            <a:ext cx="219075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53425" y="2574131"/>
            <a:ext cx="1228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TOTAL CUSTOMERS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3425" y="2764631"/>
            <a:ext cx="12287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947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49012" y="2759868"/>
            <a:ext cx="238125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33425" y="3764756"/>
            <a:ext cx="146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AVG ORDER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425" y="3955256"/>
            <a:ext cx="14668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$139.40K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76637" y="3950493"/>
            <a:ext cx="142875" cy="190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43425" y="3764756"/>
            <a:ext cx="1457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TOTAL QUANTITY SOLD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3425" y="3955256"/>
            <a:ext cx="14573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5,000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48537" y="3950493"/>
            <a:ext cx="219075" cy="190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53425" y="3764756"/>
            <a:ext cx="1285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AVG CUSTOMER 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3425" y="3955256"/>
            <a:ext cx="12858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38.4 Yrs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49012" y="3950493"/>
            <a:ext cx="238125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Business KPIs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65" y="1238250"/>
            <a:ext cx="11239500" cy="5191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9825" y="514350"/>
            <a:ext cx="1685925" cy="266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6250" y="5917406"/>
            <a:ext cx="11239500" cy="452437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7700" y="6050756"/>
            <a:ext cx="108966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369A1"/>
                </a:solidFill>
                <a:latin typeface="Inter"/>
              </a:rPr>
              <a:t>Key Takeaway: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Sales peak significantly in Q2 (April/June ~$4M/mo) with </a:t>
            </a:r>
            <a:r>
              <a:rPr sz="975" b="1" i="0" u="none">
                <a:solidFill>
                  <a:srgbClr val="0369A1"/>
                </a:solidFill>
                <a:latin typeface="Inter"/>
              </a:rPr>
              <a:t>Electronics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leading overall revenue. </a:t>
            </a:r>
            <a:r>
              <a:rPr sz="975" b="1" i="0" u="none">
                <a:solidFill>
                  <a:srgbClr val="0369A1"/>
                </a:solidFill>
                <a:latin typeface="Inter"/>
              </a:rPr>
              <a:t>Patna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and </a:t>
            </a:r>
            <a:r>
              <a:rPr sz="975" b="1" i="0" u="none">
                <a:solidFill>
                  <a:srgbClr val="0369A1"/>
                </a:solidFill>
                <a:latin typeface="Inter"/>
              </a:rPr>
              <a:t>Bengaluru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represent top regional hubs.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5917406"/>
            <a:ext cx="38100" cy="4524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Sales Performance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A479A3-75C2-F9F0-1679-95DFCFBF480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4925"/>
          <a:stretch/>
        </p:blipFill>
        <p:spPr>
          <a:xfrm>
            <a:off x="647700" y="1742725"/>
            <a:ext cx="5215218" cy="16862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BB03C6F-B285-EED9-2BEA-08207C46DCE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4341"/>
          <a:stretch/>
        </p:blipFill>
        <p:spPr>
          <a:xfrm>
            <a:off x="6221506" y="4081648"/>
            <a:ext cx="5322794" cy="16166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59CCC67-EF28-7788-FE8C-0384B1E4151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4031"/>
          <a:stretch/>
        </p:blipFill>
        <p:spPr>
          <a:xfrm>
            <a:off x="6329085" y="1742725"/>
            <a:ext cx="5024716" cy="152673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B92A2E7-FAE2-E869-BA48-0EE8FA6FE97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1217"/>
          <a:stretch/>
        </p:blipFill>
        <p:spPr>
          <a:xfrm>
            <a:off x="744071" y="4081648"/>
            <a:ext cx="5118847" cy="16452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28875"/>
            <a:ext cx="5500687" cy="125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876675"/>
            <a:ext cx="5500687" cy="1362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28875"/>
            <a:ext cx="5500687" cy="2809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400" y="514350"/>
            <a:ext cx="127635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2628900"/>
            <a:ext cx="5355669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Revenue by Gender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4076700"/>
            <a:ext cx="5355669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Revenue by Age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087" y="2628900"/>
            <a:ext cx="5355669" cy="2381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Behavioral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5087" y="4429125"/>
            <a:ext cx="5100637" cy="6096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6537" y="4562475"/>
            <a:ext cx="475773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0369A1"/>
                </a:solidFill>
                <a:latin typeface="Inter"/>
              </a:rPr>
              <a:t>Target marketing should focus heavily on working adults aged 25-50 across top metropolitan hubs.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15087" y="4429125"/>
            <a:ext cx="38100" cy="609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268" y="2628900"/>
            <a:ext cx="190500" cy="1524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216919" y="3057525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268" y="4086225"/>
            <a:ext cx="1905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275" y="4429125"/>
            <a:ext cx="51006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Adult (26-40) </a:t>
            </a:r>
            <a:r>
              <a:rPr sz="975" b="1" i="0" u="none">
                <a:solidFill>
                  <a:srgbClr val="334155"/>
                </a:solidFill>
                <a:latin typeface="Inter"/>
              </a:rPr>
              <a:t>High Contributor ($48M)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" y="4657725"/>
            <a:ext cx="51006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Middle-Aged (41-55) </a:t>
            </a:r>
            <a:r>
              <a:rPr sz="975" b="1" i="0" u="none">
                <a:solidFill>
                  <a:srgbClr val="334155"/>
                </a:solidFill>
                <a:latin typeface="Inter"/>
              </a:rPr>
              <a:t>Strong Contributor ($40M)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" y="4886325"/>
            <a:ext cx="51006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Young Adult (18-25) </a:t>
            </a:r>
            <a:r>
              <a:rPr sz="975" b="1" i="0" u="none">
                <a:solidFill>
                  <a:srgbClr val="334155"/>
                </a:solidFill>
                <a:latin typeface="Inter"/>
              </a:rPr>
              <a:t>Moderate ($32M)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8887" y="2639265"/>
            <a:ext cx="1524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62737" y="3019425"/>
            <a:ext cx="48529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Balanced Gender Share: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Spending is evenly balanced between Male (52%) and Female (48%) shoppers.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2737" y="3486150"/>
            <a:ext cx="48529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Core Age Cohort: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Working adults aged 26-55 generate over 65% of overall sales volume.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2737" y="3952875"/>
            <a:ext cx="48529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Geographic Reach: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Tier-1 cities (Bengaluru, Mumbai, Delhi, Patna) show uniform adoption.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456" y="3009900"/>
            <a:ext cx="1181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3A8A"/>
                </a:solidFill>
                <a:latin typeface="Inter"/>
              </a:rPr>
              <a:t>$72.46M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456" y="3333750"/>
            <a:ext cx="11811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Male (51.98%)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2808" y="3009900"/>
            <a:ext cx="11906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284C7"/>
                </a:solidFill>
                <a:latin typeface="Inter"/>
              </a:rPr>
              <a:t>$66.94M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2808" y="3333750"/>
            <a:ext cx="1190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Female (48.02%)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5087" y="3043237"/>
            <a:ext cx="13335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5087" y="3509962"/>
            <a:ext cx="133350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5087" y="3976687"/>
            <a:ext cx="133350" cy="1428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Customer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9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44" y="1673739"/>
            <a:ext cx="5605660" cy="32606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654" y="1852193"/>
            <a:ext cx="5500687" cy="32606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89" y="2620775"/>
            <a:ext cx="5100637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788" y="3105990"/>
            <a:ext cx="5100637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4" y="3687505"/>
            <a:ext cx="5100637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606" y="4258795"/>
            <a:ext cx="5100637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82250" y="514350"/>
            <a:ext cx="13335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331" y="2092978"/>
            <a:ext cx="5355669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Poppins"/>
              </a:rPr>
              <a:t>Top Selling Line 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3189" y="3155155"/>
            <a:ext cx="5100637" cy="909637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96063" y="3328988"/>
            <a:ext cx="4757737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369A1"/>
                </a:solidFill>
                <a:latin typeface="Inter"/>
              </a:rPr>
              <a:t>Growth Opportunity:</a:t>
            </a:r>
            <a:r>
              <a:rPr sz="1125" b="0" i="0" u="none" dirty="0">
                <a:solidFill>
                  <a:srgbClr val="0369A1"/>
                </a:solidFill>
                <a:latin typeface="Inter"/>
              </a:rPr>
              <a:t> Expanding cross-selling bundles (e.g., Laptop + Accessories or Books + Study Gear) can boost average basket size by an estimated 12-15%.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0000" y="3170774"/>
            <a:ext cx="38100" cy="9096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606" y="2104184"/>
            <a:ext cx="17145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31810" y="2133180"/>
            <a:ext cx="5355669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Poppins"/>
              </a:rPr>
              <a:t>Category Revenue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087" y="2647949"/>
            <a:ext cx="51006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Electronics represents the primary revenue anchor, followed by Education and Grocery lines.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792" y="2142213"/>
            <a:ext cx="17145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Product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38525"/>
            <a:ext cx="112395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514600"/>
            <a:ext cx="1778049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599" y="2514600"/>
            <a:ext cx="1778049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0949" y="2514600"/>
            <a:ext cx="1778049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298" y="2514600"/>
            <a:ext cx="1778049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648" y="2514600"/>
            <a:ext cx="1778049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7998" y="2514600"/>
            <a:ext cx="1778049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4210050"/>
            <a:ext cx="10839450" cy="742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0825" y="514350"/>
            <a:ext cx="130492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6650" y="6524625"/>
            <a:ext cx="419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3638550"/>
            <a:ext cx="10839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Data Storytelling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translates raw tabular metrics into an engaging executive narrative. Instead of viewing isolated numbers, decision-makers follow a cohesive story: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2686050"/>
            <a:ext cx="15494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2867025"/>
            <a:ext cx="15494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Business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2899" y="2686050"/>
            <a:ext cx="15494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2899" y="2867025"/>
            <a:ext cx="15494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Data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5249" y="2686050"/>
            <a:ext cx="15494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5249" y="2867025"/>
            <a:ext cx="15494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Data Cleaning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7598" y="2686050"/>
            <a:ext cx="15494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7598" y="2867025"/>
            <a:ext cx="15494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Exploratory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9948" y="2686050"/>
            <a:ext cx="15494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9948" y="2867025"/>
            <a:ext cx="15494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Business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2298" y="2686050"/>
            <a:ext cx="15494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Inter"/>
              </a:rPr>
              <a:t>STEP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2298" y="2867025"/>
            <a:ext cx="15494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Actionable Recs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Business 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14562"/>
            <a:ext cx="5500687" cy="107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462337"/>
            <a:ext cx="5500687" cy="923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529137"/>
            <a:ext cx="5500687" cy="923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2214562"/>
            <a:ext cx="5500687" cy="3238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3429000"/>
            <a:ext cx="5100637" cy="1714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9375" y="514350"/>
            <a:ext cx="147637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25225" y="6524625"/>
            <a:ext cx="390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2414587"/>
            <a:ext cx="5355669" cy="2381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Business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728912"/>
            <a:ext cx="510063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172A"/>
                </a:solidFill>
                <a:latin typeface="Inter Medium"/>
              </a:rPr>
              <a:t>Do male and female customers spend the same amount on average per transaction?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3662362"/>
            <a:ext cx="535566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oppins"/>
              </a:rPr>
              <a:t>Null Hypothesis (H₀)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3862387"/>
            <a:ext cx="510063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SemiBold"/>
              </a:rPr>
              <a:t>There is NO significant difference in average sales between male and female customers.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4729162"/>
            <a:ext cx="535566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oppins"/>
              </a:rPr>
              <a:t>Alternative Hypothesis (H₁)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4929187"/>
            <a:ext cx="510063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SemiBold"/>
              </a:rPr>
              <a:t>There IS a significant difference in average sales between male and female customers.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2452687"/>
            <a:ext cx="1524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15087" y="2414587"/>
            <a:ext cx="5355669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087" y="2728912"/>
            <a:ext cx="510063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Test Type: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Independent Two-Sample T-Test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087" y="2890837"/>
            <a:ext cx="510063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Significance Level: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4612" y="3756212"/>
            <a:ext cx="5081587" cy="1487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5087" y="2452687"/>
            <a:ext cx="1714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5087" y="3100387"/>
            <a:ext cx="517177" cy="1047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Hypothesis Testing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17589"/>
            <a:ext cx="5500687" cy="18704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630935"/>
            <a:ext cx="5500687" cy="752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284214"/>
            <a:ext cx="5500687" cy="30991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9825" y="514350"/>
            <a:ext cx="16859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6175" y="6524625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2284214"/>
            <a:ext cx="5775721" cy="2381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 Python SciPy Execution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2322314"/>
            <a:ext cx="1333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275" y="4830960"/>
            <a:ext cx="535566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oppins"/>
              </a:rPr>
              <a:t>Decision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5030985"/>
            <a:ext cx="51006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If &lt; 0.05 → Reject H₀ | If ≥ 0.05 → Fail to Reject H₀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3187" y="4359473"/>
            <a:ext cx="5062537" cy="823912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4637" y="4492823"/>
            <a:ext cx="4719637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369A1"/>
                </a:solidFill>
                <a:latin typeface="Inter"/>
              </a:rPr>
              <a:t>Business Implication: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Statistical analysis proves there is no significant difference in spending between genders. Therefore, marketing budget should NOT be segmented by gender, optimizing advertising spend.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53187" y="4359473"/>
            <a:ext cx="38100" cy="82391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5097660"/>
            <a:ext cx="61912" cy="857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6532" y="5097660"/>
            <a:ext cx="61912" cy="85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53187" y="2484239"/>
            <a:ext cx="531566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oppins"/>
              </a:rPr>
              <a:t>Statistical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87" y="2884289"/>
            <a:ext cx="506253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p-value = 0.142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3187" y="3351014"/>
            <a:ext cx="5062537" cy="18097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A34A"/>
                </a:solidFill>
                <a:latin typeface="Inter SemiBold"/>
              </a:rPr>
              <a:t>Fail to Reject Null Hypothesis (H₀)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3187" y="3370064"/>
            <a:ext cx="142875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Statistical Results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608909"/>
            <a:ext cx="11239500" cy="781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9850" y="514350"/>
            <a:ext cx="14859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6175" y="6524625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150" y="4923234"/>
            <a:ext cx="8743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Inter"/>
              </a:rPr>
              <a:t>Continuous Intelligence:</a:t>
            </a:r>
            <a:r>
              <a:rPr sz="975" b="0" i="0" u="none">
                <a:solidFill>
                  <a:srgbClr val="334155"/>
                </a:solidFill>
                <a:latin typeface="Inter"/>
              </a:rPr>
              <a:t> Embed live DAX measures in executive Power BI dashboards to track KPI shifts against baseline performance in real time.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47769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2477690"/>
            <a:ext cx="2190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633787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3633787"/>
            <a:ext cx="2190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4761309"/>
            <a:ext cx="76200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9175" y="2458640"/>
            <a:ext cx="505063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Target High-Value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75" y="2734865"/>
            <a:ext cx="48101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Focus promotional campaigns on Electronics and Educational products which yield highest revenue margins.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2458640"/>
            <a:ext cx="502062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Regional Expansion in Tier-1 Cities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2734865"/>
            <a:ext cx="47815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Increase distribution and marketing presence in Patna, Bengaluru, and Kolkata based on strong regional demand.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3614737"/>
            <a:ext cx="50006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Monthly Inventory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3890962"/>
            <a:ext cx="47625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Align stock replenishment schedules with peak sales velocity in Q2 (April &amp; June) to prevent stockouts.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614737"/>
            <a:ext cx="502062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Demographic Personalization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3890962"/>
            <a:ext cx="47815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Develop tailored loyalty rewards for working adults aged 26-55 who generate over 65% of revenue.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Business Recommendations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6250" y="2262187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6250" y="3033712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6250" y="3805237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6250" y="302418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6250" y="302418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6250" y="3795712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6250" y="3795712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6250" y="456723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6250" y="456723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05062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71625" y="2447925"/>
            <a:ext cx="10144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https://images.stockcake.com/public/6/2/2/62283236-d211-4847-a877-552149bd7d23_large/data-dashboard-analytics-stockcake.jpg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1625" y="2647950"/>
            <a:ext cx="101441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17658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71625" y="3219450"/>
            <a:ext cx="10144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https://enterprisedb.com/sites/default/files/2025-08/star-schema.jpg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625" y="3419475"/>
            <a:ext cx="101441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www.enterprisedb.com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948112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71625" y="3990975"/>
            <a:ext cx="10144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https://static.vecteezy.com/system/resources/thumbnails/067/915/993/small/conceptual-linear-linear-design-icon-of-hypothesis-testing-vector.jpg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1625" y="4191000"/>
            <a:ext cx="101441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752975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1625" y="4719637"/>
            <a:ext cx="101441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https://static.vecteezy.com/system/resources/previews/034/822/051/non_2x/blue-building-symbolizes-the-growth-and-achievement-of-a-company-representing-the-strategic-management-and-decision-making-process-that-leads-to-success-illustration-vector.jpg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1625" y="5072062"/>
            <a:ext cx="101441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2" y="2714625"/>
            <a:ext cx="4929187" cy="2238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37" y="4029075"/>
            <a:ext cx="4262437" cy="590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7075" y="514350"/>
            <a:ext cx="828675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6650" y="6524625"/>
            <a:ext cx="419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2714625"/>
            <a:ext cx="602456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This internship project transformed raw transactional sales data into validated strategic intelligence through </a:t>
            </a:r>
            <a:r>
              <a:rPr sz="1125" b="1" i="0" u="none">
                <a:solidFill>
                  <a:srgbClr val="334155"/>
                </a:solidFill>
                <a:latin typeface="Inter"/>
              </a:rPr>
              <a:t>Data Storytelling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, dynamic dashboards, and rigorous </a:t>
            </a:r>
            <a:r>
              <a:rPr sz="1125" b="1" i="0" u="none">
                <a:solidFill>
                  <a:srgbClr val="334155"/>
                </a:solidFill>
                <a:latin typeface="Inter"/>
              </a:rPr>
              <a:t>Hypothesis Testing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3590925"/>
            <a:ext cx="6325790" cy="21907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oppins"/>
              </a:rPr>
              <a:t>Technical &amp; Analytical Competencies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6038" y="3048000"/>
            <a:ext cx="18902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38BDF8"/>
                </a:solidFill>
                <a:latin typeface="Poppins"/>
              </a:rPr>
              <a:t>Thank You!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7718" y="3600450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Inter"/>
              </a:rPr>
              <a:t>Questions &amp; Discussion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629025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3952875"/>
            <a:ext cx="733425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5875" y="3952875"/>
            <a:ext cx="962025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4100" y="3952875"/>
            <a:ext cx="1495425" cy="2762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725" y="3952875"/>
            <a:ext cx="1009650" cy="2762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1575" y="3952875"/>
            <a:ext cx="1085850" cy="2762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0" y="4305300"/>
            <a:ext cx="1019175" cy="2762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71625" y="4305300"/>
            <a:ext cx="1352550" cy="2762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00375" y="4305300"/>
            <a:ext cx="1304925" cy="2762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500" y="4305300"/>
            <a:ext cx="1162050" cy="2762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19937" y="4229100"/>
            <a:ext cx="426243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FFFFF"/>
                </a:solidFill>
                <a:latin typeface="Inter SemiBold"/>
              </a:rPr>
              <a:t>R Devanath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9937" y="4467225"/>
            <a:ext cx="4262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Inter"/>
              </a:rPr>
              <a:t>ApexPlanet Data Analytics Internship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Conclusion &amp; Technical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999</Words>
  <Application>Microsoft Office PowerPoint</Application>
  <PresentationFormat>Widescreen</PresentationFormat>
  <Paragraphs>154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 DEVANATH</dc:creator>
  <cp:keywords/>
  <dc:description>generated using python-pptx</dc:description>
  <cp:lastModifiedBy>R DEVANATH</cp:lastModifiedBy>
  <cp:revision>4</cp:revision>
  <dcterms:created xsi:type="dcterms:W3CDTF">2013-01-27T09:14:16Z</dcterms:created>
  <dcterms:modified xsi:type="dcterms:W3CDTF">2026-07-22T19:12:45Z</dcterms:modified>
  <cp:category/>
</cp:coreProperties>
</file>